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3716000" cx="24384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bQ6ly9SS8vQMAxuX8Y7kYMRKo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bold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10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http://bit.ly/420sG1y,</a:t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473200" y="1790700"/>
            <a:ext cx="214376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473200" y="6845300"/>
            <a:ext cx="21437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>
            <p:ph idx="2" type="pic"/>
          </p:nvPr>
        </p:nvSpPr>
        <p:spPr>
          <a:xfrm>
            <a:off x="13169900" y="1092200"/>
            <a:ext cx="9525000" cy="11506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13"/>
          <p:cNvSpPr txBox="1"/>
          <p:nvPr>
            <p:ph type="title"/>
          </p:nvPr>
        </p:nvSpPr>
        <p:spPr>
          <a:xfrm>
            <a:off x="1473200" y="1803400"/>
            <a:ext cx="96393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" type="body"/>
          </p:nvPr>
        </p:nvSpPr>
        <p:spPr>
          <a:xfrm>
            <a:off x="1473200" y="6718300"/>
            <a:ext cx="96393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1473200" y="3898900"/>
            <a:ext cx="21437600" cy="80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62890" lvl="0" marL="457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1pPr>
            <a:lvl2pPr indent="-262890" lvl="1" marL="914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2pPr>
            <a:lvl3pPr indent="-262889" lvl="2" marL="1371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3pPr>
            <a:lvl4pPr indent="-262889" lvl="3" marL="1828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4pPr>
            <a:lvl5pPr indent="-262889" lvl="4" marL="22860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>
            <p:ph idx="2" type="pic"/>
          </p:nvPr>
        </p:nvSpPr>
        <p:spPr>
          <a:xfrm>
            <a:off x="13169900" y="3302000"/>
            <a:ext cx="9525000" cy="92075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15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1473200" y="3898900"/>
            <a:ext cx="10007600" cy="80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62890" lvl="0" marL="457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1pPr>
            <a:lvl2pPr indent="-262890" lvl="1" marL="914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2pPr>
            <a:lvl3pPr indent="-262889" lvl="2" marL="1371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3pPr>
            <a:lvl4pPr indent="-262889" lvl="3" marL="1828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4pPr>
            <a:lvl5pPr indent="-262889" lvl="4" marL="22860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>
            <p:ph idx="2" type="pic"/>
          </p:nvPr>
        </p:nvSpPr>
        <p:spPr>
          <a:xfrm>
            <a:off x="1473200" y="1326346"/>
            <a:ext cx="21437600" cy="8039101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6"/>
          <p:cNvSpPr txBox="1"/>
          <p:nvPr>
            <p:ph type="title"/>
          </p:nvPr>
        </p:nvSpPr>
        <p:spPr>
          <a:xfrm>
            <a:off x="1473200" y="9575800"/>
            <a:ext cx="2143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1473200" y="11290300"/>
            <a:ext cx="2143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Helvetica Neue Light"/>
              <a:buNone/>
              <a:defRPr sz="5800">
                <a:solidFill>
                  <a:srgbClr val="73BFFF"/>
                </a:solidFill>
              </a:defRPr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2387600" y="8966200"/>
            <a:ext cx="19621500" cy="5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3200"/>
              <a:buFont typeface="Helvetica Neue"/>
              <a:buNone/>
              <a:defRPr i="1" sz="3200">
                <a:solidFill>
                  <a:srgbClr val="73B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62890" lvl="1" marL="914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2pPr>
            <a:lvl3pPr indent="-262889" lvl="2" marL="1371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3pPr>
            <a:lvl4pPr indent="-262889" lvl="3" marL="1828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4pPr>
            <a:lvl5pPr indent="-262889" lvl="4" marL="22860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2" type="body"/>
          </p:nvPr>
        </p:nvSpPr>
        <p:spPr>
          <a:xfrm>
            <a:off x="2387600" y="6059289"/>
            <a:ext cx="19621500" cy="850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Helvetica Neue Light"/>
              <a:buNone/>
              <a:defRPr/>
            </a:lvl1pPr>
            <a:lvl2pPr indent="-262890" lvl="1" marL="914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2pPr>
            <a:lvl3pPr indent="-262889" lvl="2" marL="1371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3pPr>
            <a:lvl4pPr indent="-262889" lvl="3" marL="1828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4pPr>
            <a:lvl5pPr indent="-262889" lvl="4" marL="22860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1473200" y="51435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1473200" y="1930400"/>
            <a:ext cx="21437600" cy="98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62890" lvl="0" marL="457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1pPr>
            <a:lvl2pPr indent="-262890" lvl="1" marL="914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2pPr>
            <a:lvl3pPr indent="-262889" lvl="2" marL="1371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3pPr>
            <a:lvl4pPr indent="-262889" lvl="3" marL="1828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4pPr>
            <a:lvl5pPr indent="-262889" lvl="4" marL="22860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5pPr>
            <a:lvl6pPr indent="-262889" lvl="5" marL="27432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6pPr>
            <a:lvl7pPr indent="-262889" lvl="6" marL="32004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7pPr>
            <a:lvl8pPr indent="-262890" lvl="7" marL="36576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8pPr>
            <a:lvl9pPr indent="-262890" lvl="8" marL="411480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54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/>
          <p:nvPr>
            <p:ph idx="2" type="pic"/>
          </p:nvPr>
        </p:nvSpPr>
        <p:spPr>
          <a:xfrm>
            <a:off x="15798800" y="6870700"/>
            <a:ext cx="7404100" cy="55499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21"/>
          <p:cNvSpPr/>
          <p:nvPr>
            <p:ph idx="3" type="pic"/>
          </p:nvPr>
        </p:nvSpPr>
        <p:spPr>
          <a:xfrm>
            <a:off x="15798800" y="952500"/>
            <a:ext cx="7404100" cy="55499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1"/>
          <p:cNvSpPr/>
          <p:nvPr>
            <p:ph idx="4" type="pic"/>
          </p:nvPr>
        </p:nvSpPr>
        <p:spPr>
          <a:xfrm>
            <a:off x="1206500" y="952500"/>
            <a:ext cx="14173200" cy="114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23724221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/>
          <p:nvPr>
            <p:ph idx="2" type="pic"/>
          </p:nvPr>
        </p:nvSpPr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" type="body"/>
          </p:nvPr>
        </p:nvSpPr>
        <p:spPr>
          <a:xfrm>
            <a:off x="1473200" y="1930400"/>
            <a:ext cx="21437600" cy="98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Helvetica Neue Light"/>
              <a:buChar char="•"/>
              <a:defRPr b="0" i="0" sz="5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Helvetica Neue Light"/>
              <a:buNone/>
              <a:defRPr b="0" i="0" sz="10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23721936" y="13122415"/>
            <a:ext cx="368504" cy="387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ducation.lego.com/en-us/product-resources/mindstorms-ev3/downloads/building-instructions/#building-instructions-for-core-set-models" TargetMode="External"/><Relationship Id="rId4" Type="http://schemas.openxmlformats.org/officeDocument/2006/relationships/hyperlink" Target="https://github.com/rcocca/LegoPythonco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idx="4294967295" type="ctrTitle"/>
          </p:nvPr>
        </p:nvSpPr>
        <p:spPr>
          <a:xfrm>
            <a:off x="1473200" y="1790700"/>
            <a:ext cx="21437600" cy="4927600"/>
          </a:xfrm>
          <a:prstGeom prst="rect">
            <a:avLst/>
          </a:prstGeom>
          <a:noFill/>
          <a:ln cap="flat" cmpd="sng" w="25400">
            <a:solidFill>
              <a:srgbClr val="ACA6A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2700000" dist="38100">
              <a:srgbClr val="000000">
                <a:alpha val="64705"/>
              </a:srgbClr>
            </a:outerShdw>
          </a:effectLst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b="0" i="0" lang="en-US" sz="10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Robot Mayhem</a:t>
            </a:r>
            <a:endParaRPr/>
          </a:p>
        </p:txBody>
      </p:sp>
      <p:sp>
        <p:nvSpPr>
          <p:cNvPr id="60" name="Google Shape;60;p1"/>
          <p:cNvSpPr txBox="1"/>
          <p:nvPr>
            <p:ph idx="4294967295" type="subTitle"/>
          </p:nvPr>
        </p:nvSpPr>
        <p:spPr>
          <a:xfrm>
            <a:off x="1473200" y="6845300"/>
            <a:ext cx="21437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Coding Lego EV3 with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26-01-13 at 11.31.03 AM.png" id="65" name="Google Shape;65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9902" y="2641768"/>
            <a:ext cx="11984388" cy="8228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>
            <p:ph type="title"/>
          </p:nvPr>
        </p:nvSpPr>
        <p:spPr>
          <a:xfrm>
            <a:off x="1473200" y="1803400"/>
            <a:ext cx="9639300" cy="49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Welcome &amp;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Ice Breaker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1473200" y="6724650"/>
            <a:ext cx="9639300" cy="50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Renee Cocca - Principal Software Test Engineer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Mindex Inc.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Georgia"/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Assistants - Austin &amp; Logan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Getting Started with Python &amp; EV3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1473200" y="3898900"/>
            <a:ext cx="21437600" cy="80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635000" lvl="0" marL="635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VS Code</a:t>
            </a:r>
            <a:endParaRPr/>
          </a:p>
          <a:p>
            <a:pPr indent="-635000" lvl="0" marL="63500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https://education.lego.com/en-us/product-resources/mindstorms-ev3/teacher-resources/python-for-ev3/</a:t>
            </a:r>
            <a:endParaRPr/>
          </a:p>
          <a:p>
            <a:pPr indent="-635000" lvl="0" marL="63500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https://education.lego.com/en-us/product-resources/mindstorms-ev3/downloads/building-instructions/#building-instructions-for-core-set-models</a:t>
            </a:r>
            <a:endParaRPr/>
          </a:p>
          <a:p>
            <a:pPr indent="-635000" lvl="0" marL="63500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https://github.com/rcocca/LegoPythoncode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Getting Started 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7770990" y="6562256"/>
            <a:ext cx="8955674" cy="825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ev3.speaker.beep()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7810865" y="7790121"/>
            <a:ext cx="12113879" cy="154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t/>
            </a:r>
            <a:endParaRPr b="0" i="0" sz="5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ev3.speaker.say(“Kidsmash at CodeMash”)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7932990" y="4022536"/>
            <a:ext cx="8631674" cy="154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Code: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Georgia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ev3 = EV3Brick()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Movements</a:t>
            </a:r>
            <a:endParaRPr/>
          </a:p>
        </p:txBody>
      </p:sp>
      <p:pic>
        <p:nvPicPr>
          <p:cNvPr descr="Image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76910" y="2561451"/>
            <a:ext cx="7620001" cy="5080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1670476" y="3677515"/>
            <a:ext cx="4796806" cy="139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Code: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# Initialize motors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1670476" y="5746810"/>
            <a:ext cx="7513663" cy="139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left_motor = Motor(Port.B)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right_motor = Motor(Port.C)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1672683" y="7648532"/>
            <a:ext cx="4715881" cy="74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# Initialize wheels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1672683" y="8530718"/>
            <a:ext cx="21040106" cy="736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robot = DriveBase(left_motor, right_motor, wheel_diameter=55.5, axel_track=104) 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1672683" y="9881636"/>
            <a:ext cx="5660754" cy="74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# Move robot forward</a:t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1671212" y="10788052"/>
            <a:ext cx="54555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robot</a:t>
            </a:r>
            <a:r>
              <a:rPr lang="en-US" sz="4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straight(100)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Movements Continued</a:t>
            </a:r>
            <a:endParaRPr/>
          </a:p>
        </p:txBody>
      </p:sp>
      <p:pic>
        <p:nvPicPr>
          <p:cNvPr descr="Image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76910" y="2561451"/>
            <a:ext cx="7620001" cy="508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1670476" y="4001365"/>
            <a:ext cx="6106400" cy="74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# Move robot backward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693877" y="6293801"/>
            <a:ext cx="11616855" cy="2044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robot.turn(45)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Is this Right or Left?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happens if you were to change it to -45?</a:t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1671212" y="4760659"/>
            <a:ext cx="56694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robot</a:t>
            </a:r>
            <a:r>
              <a:rPr lang="en-US" sz="4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straight(-100)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1693877" y="10063848"/>
            <a:ext cx="10630682" cy="74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Lets put some movements together now…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08" name="Google Shape;108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7074" y="2994494"/>
            <a:ext cx="8276898" cy="803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Sensors in Actions </a:t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1670476" y="3677515"/>
            <a:ext cx="6442938" cy="139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Code: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# Initialize Touch Sensor</a:t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1643025" y="5602637"/>
            <a:ext cx="96678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touch</a:t>
            </a:r>
            <a:r>
              <a:rPr lang="en-US" sz="4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sensor = TouchSensor(Port.S4)</a:t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1619624" y="6613360"/>
            <a:ext cx="9914186" cy="3746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6A9955"/>
                </a:solidFill>
                <a:latin typeface="Georgia"/>
                <a:ea typeface="Georgia"/>
                <a:cs typeface="Georgia"/>
                <a:sym typeface="Georgia"/>
              </a:rPr>
              <a:t># Move straight until the touch sensor is pressed</a:t>
            </a:r>
            <a:endParaRPr b="0" i="0" sz="5800" u="none" cap="none" strike="noStrike">
              <a:solidFill>
                <a:srgbClr val="CCCCCC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C586C0"/>
                </a:solidFill>
                <a:latin typeface="Georgia"/>
                <a:ea typeface="Georgia"/>
                <a:cs typeface="Georgia"/>
                <a:sym typeface="Georgia"/>
              </a:rPr>
              <a:t>while</a:t>
            </a:r>
            <a:r>
              <a:rPr b="0" i="0" lang="en-US" sz="36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3600" u="none" cap="none" strike="noStrike">
                <a:solidFill>
                  <a:srgbClr val="569CD6"/>
                </a:solidFill>
                <a:latin typeface="Georgia"/>
                <a:ea typeface="Georgia"/>
                <a:cs typeface="Georgia"/>
                <a:sym typeface="Georgia"/>
              </a:rPr>
              <a:t>not</a:t>
            </a:r>
            <a:r>
              <a:rPr b="0" i="0" lang="en-US" sz="36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touch_sensor.pressed():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   robot.straight(speed)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Georgia"/>
              <a:buNone/>
            </a:pPr>
            <a:r>
              <a:t/>
            </a:r>
            <a:endParaRPr b="0" i="0" sz="3600" u="none" cap="none" strike="noStrike">
              <a:solidFill>
                <a:srgbClr val="CCCC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6A9955"/>
                </a:solidFill>
                <a:latin typeface="Georgia"/>
                <a:ea typeface="Georgia"/>
                <a:cs typeface="Georgia"/>
                <a:sym typeface="Georgia"/>
              </a:rPr>
              <a:t># Stop the robot</a:t>
            </a:r>
            <a:endParaRPr b="0" i="0" sz="5800" u="none" cap="none" strike="noStrike">
              <a:solidFill>
                <a:srgbClr val="CCCCCC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Georgia"/>
              <a:buNone/>
            </a:pPr>
            <a:r>
              <a:rPr b="0" i="0" lang="en-US" sz="36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robot.stop()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17" name="Google Shape;117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7074" y="2994494"/>
            <a:ext cx="8276898" cy="803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/>
          <p:nvPr>
            <p:ph type="title"/>
          </p:nvPr>
        </p:nvSpPr>
        <p:spPr>
          <a:xfrm>
            <a:off x="1473200" y="355600"/>
            <a:ext cx="21437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Sensors in Actions </a:t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1670476" y="4001365"/>
            <a:ext cx="6241183" cy="74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# Initialize Color Sensor</a:t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1643025" y="5602637"/>
            <a:ext cx="92361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Georgia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color</a:t>
            </a:r>
            <a:r>
              <a:rPr lang="en-US" sz="4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b="0" i="0" lang="en-US" sz="4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sensor = ColorSensor(Port.S1)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1638344" y="6963207"/>
            <a:ext cx="12635614" cy="2641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500"/>
              <a:buFont typeface="Georgia"/>
              <a:buNone/>
            </a:pP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color_sensor </a:t>
            </a:r>
            <a:r>
              <a:rPr b="0" i="0" lang="en-US" sz="3500" u="none" cap="none" strike="noStrike">
                <a:solidFill>
                  <a:srgbClr val="D4D4D4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ColorSensor(Port.S1)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500"/>
              <a:buFont typeface="Georgia"/>
              <a:buNone/>
            </a:pPr>
            <a:r>
              <a:t/>
            </a:r>
            <a:endParaRPr b="0" i="0" sz="3500" u="none" cap="none" strike="noStrike">
              <a:solidFill>
                <a:srgbClr val="CCCC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3500"/>
              <a:buFont typeface="Georgia"/>
              <a:buNone/>
            </a:pPr>
            <a:r>
              <a:rPr b="0" i="0" lang="en-US" sz="3500" u="none" cap="none" strike="noStrike">
                <a:solidFill>
                  <a:srgbClr val="C586C0"/>
                </a:solidFill>
                <a:latin typeface="Georgia"/>
                <a:ea typeface="Georgia"/>
                <a:cs typeface="Georgia"/>
                <a:sym typeface="Georgia"/>
              </a:rPr>
              <a:t>while</a:t>
            </a: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color_sensor.color() </a:t>
            </a:r>
            <a:r>
              <a:rPr b="0" i="0" lang="en-US" sz="3500" u="none" cap="none" strike="noStrike">
                <a:solidFill>
                  <a:srgbClr val="D4D4D4"/>
                </a:solidFill>
                <a:latin typeface="Georgia"/>
                <a:ea typeface="Georgia"/>
                <a:cs typeface="Georgia"/>
                <a:sym typeface="Georgia"/>
              </a:rPr>
              <a:t>!=</a:t>
            </a: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 Color.BLACK: robot.drive(</a:t>
            </a:r>
            <a:r>
              <a:rPr b="0" i="0" lang="en-US" sz="3500" u="none" cap="none" strike="noStrike">
                <a:solidFill>
                  <a:srgbClr val="B5CEA8"/>
                </a:solidFill>
                <a:latin typeface="Georgia"/>
                <a:ea typeface="Georgia"/>
                <a:cs typeface="Georgia"/>
                <a:sym typeface="Georgia"/>
              </a:rPr>
              <a:t>200</a:t>
            </a: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0" i="0" lang="en-US" sz="3500" u="none" cap="none" strike="noStrike">
                <a:solidFill>
                  <a:srgbClr val="B5CEA8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500"/>
              <a:buFont typeface="Georgia"/>
              <a:buNone/>
            </a:pPr>
            <a:r>
              <a:rPr b="0" i="0" lang="en-US" sz="3500" u="none" cap="none" strike="noStrike">
                <a:solidFill>
                  <a:srgbClr val="CCCCCC"/>
                </a:solidFill>
                <a:latin typeface="Georgia"/>
                <a:ea typeface="Georgia"/>
                <a:cs typeface="Georgia"/>
                <a:sym typeface="Georgia"/>
              </a:rPr>
              <a:t>robot.stop()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26-01-13 at 11.43.36 AM.png" id="126" name="Google Shape;126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16073" y="1744276"/>
            <a:ext cx="28667312" cy="66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 txBox="1"/>
          <p:nvPr>
            <p:ph type="title"/>
          </p:nvPr>
        </p:nvSpPr>
        <p:spPr>
          <a:xfrm>
            <a:off x="1473200" y="9575800"/>
            <a:ext cx="2143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Mayhem Challenge</a:t>
            </a:r>
            <a:endParaRPr/>
          </a:p>
        </p:txBody>
      </p:sp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1473200" y="11290300"/>
            <a:ext cx="2143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58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What extras can we fit in?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2387600" y="8966200"/>
            <a:ext cx="19621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BFFF"/>
              </a:buClr>
              <a:buSzPts val="7500"/>
              <a:buFont typeface="Georgia"/>
              <a:buNone/>
            </a:pPr>
            <a:r>
              <a:rPr lang="en-US" sz="7500">
                <a:latin typeface="Georgia"/>
                <a:ea typeface="Georgia"/>
                <a:cs typeface="Georgia"/>
                <a:sym typeface="Georgia"/>
              </a:rPr>
              <a:t>Wrap up</a:t>
            </a:r>
            <a:endParaRPr/>
          </a:p>
        </p:txBody>
      </p:sp>
      <p:sp>
        <p:nvSpPr>
          <p:cNvPr id="134" name="Google Shape;134;p10"/>
          <p:cNvSpPr txBox="1"/>
          <p:nvPr>
            <p:ph idx="2" type="body"/>
          </p:nvPr>
        </p:nvSpPr>
        <p:spPr>
          <a:xfrm>
            <a:off x="2387600" y="5786239"/>
            <a:ext cx="19621500" cy="139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900"/>
              <a:buFont typeface="Georgia"/>
              <a:buNone/>
            </a:pPr>
            <a:r>
              <a:rPr lang="en-US" sz="8900">
                <a:latin typeface="Georgia"/>
                <a:ea typeface="Georgia"/>
                <a:cs typeface="Georgia"/>
                <a:sym typeface="Georgia"/>
              </a:rPr>
              <a:t>Robots on Parade</a:t>
            </a:r>
            <a:endParaRPr/>
          </a:p>
        </p:txBody>
      </p:sp>
      <p:pic>
        <p:nvPicPr>
          <p:cNvPr descr="Image Gallery" id="135" name="Google Shape;135;p10"/>
          <p:cNvPicPr preferRelativeResize="0"/>
          <p:nvPr/>
        </p:nvPicPr>
        <p:blipFill rotWithShape="1">
          <a:blip r:embed="rId3">
            <a:alphaModFix/>
          </a:blip>
          <a:srcRect b="6343" l="0" r="0" t="6343"/>
          <a:stretch/>
        </p:blipFill>
        <p:spPr>
          <a:xfrm>
            <a:off x="18181621" y="8410603"/>
            <a:ext cx="5734498" cy="500682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/>
        </p:nvSpPr>
        <p:spPr>
          <a:xfrm>
            <a:off x="1956975" y="11118075"/>
            <a:ext cx="10716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0">
                <a:solidFill>
                  <a:srgbClr val="73BFFF"/>
                </a:solidFill>
                <a:latin typeface="Georgia"/>
                <a:ea typeface="Georgia"/>
                <a:cs typeface="Georgia"/>
                <a:sym typeface="Georgia"/>
              </a:rPr>
              <a:t>http://bit.ly/420sG1y</a:t>
            </a:r>
            <a:endParaRPr sz="6000">
              <a:solidFill>
                <a:srgbClr val="73B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dustrial">
  <a:themeElements>
    <a:clrScheme name="Industri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dustrial">
  <a:themeElements>
    <a:clrScheme name="Industrial">
      <a:dk1>
        <a:srgbClr val="BC00FF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